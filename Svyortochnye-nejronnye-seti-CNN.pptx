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media/image15.gif" ContentType="image/gif"/>
  <Override PartName="/ppt/media/image14.gif" ContentType="image/gif"/>
  <Override PartName="/ppt/media/image17.gif" ContentType="image/gif"/>
  <Override PartName="/ppt/media/image18.gif" ContentType="image/gif"/>
  <Override PartName="/ppt/media/image19.gif" ContentType="image/gif"/>
  <Override PartName="/ppt/media/image20.gif" ContentType="image/gif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D748A5-CFD1-48F7-9562-709970672F6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2F50922-BB70-4CC6-8390-721B7103F6E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08041EF-2298-4E6E-BC1D-7087726FDDD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9079905-9752-4561-BDF9-D7D9BDBF097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6FDD995-F5D2-4FD4-B353-7A48E765D3F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03C4057-B6E6-40CB-8943-CEA30120733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2BB09AA-6198-40C7-BF02-761020A296E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E7D15BF-0348-4B6E-8EEF-941962601CD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C554850-4B34-42EB-8B7E-51016792A1C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BD5027D-30D4-4901-ADD6-064452CB3F9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1F1D5DD-BCEE-4377-96C4-F3D77B39A55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D0A07F9-19AD-4E4C-84CD-32DA1F403BC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12B3192-1DB2-46FC-B913-4248767F7B8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03EB9B8-2699-4575-BE74-AD5864B4009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4A06660-3B37-4D6D-BFD5-CDC4BC633B9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6F0150A-16A1-4D39-B6EF-F0240C09AFA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ADDA033-8534-4527-9B7E-26CA27837FB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201D0EA-0EC1-4207-A704-E7DF141153F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66BAFE8-5A2C-4E31-AACB-EAD1A74FA46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E497C1D-3213-4F7E-838F-650F372FB80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37EC9C0-8C61-4026-A801-901BA3FA07E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6523D8D-C504-4745-A211-AD45ED0E5AC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78A8573-14CF-4CA7-845A-DDBED5034BA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160" cy="4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5920" cy="13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5920" cy="47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0400" y="50400"/>
            <a:ext cx="14578920" cy="48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endParaRPr lang="ru-RU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>
                <a:solidFill>
                  <a:srgbClr val="000000"/>
                </a:solidFill>
                <a:effectLst/>
                <a:uFillTx/>
                <a:latin typeface="Arial"/>
                <a:ea typeface="Inter Bold"/>
              </a:rPr>
              <a:t>Свёрточные нейронные сети (CNN). Применение CNN для решения задачи распознавания.</a:t>
            </a:r>
            <a:endParaRPr lang="ru-RU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0" y="3240000"/>
            <a:ext cx="14670360" cy="66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180000"/>
            <a:ext cx="1462932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Задача распознавания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(Задача классификации сцены/объекта на изображении)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269640" y="2340000"/>
            <a:ext cx="4690800" cy="539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/>
          <p:cNvPicPr/>
          <p:nvPr/>
        </p:nvPicPr>
        <p:blipFill>
          <a:blip r:embed="rId2"/>
          <a:stretch/>
        </p:blipFill>
        <p:spPr>
          <a:xfrm>
            <a:off x="9449640" y="2550240"/>
            <a:ext cx="4589280" cy="533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396720" y="311760"/>
            <a:ext cx="103460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Inter Bold"/>
              </a:rPr>
              <a:t>Представление изображения, как матрицы действительных чисел.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50"/>
              </a:lnSpc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6"/>
          <p:cNvPicPr/>
          <p:nvPr/>
        </p:nvPicPr>
        <p:blipFill>
          <a:blip r:embed="rId1"/>
          <a:stretch/>
        </p:blipFill>
        <p:spPr>
          <a:xfrm>
            <a:off x="180000" y="1980000"/>
            <a:ext cx="7425720" cy="54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/>
          <p:cNvPicPr/>
          <p:nvPr/>
        </p:nvPicPr>
        <p:blipFill>
          <a:blip r:embed="rId2"/>
          <a:stretch/>
        </p:blipFill>
        <p:spPr>
          <a:xfrm>
            <a:off x="7920000" y="3240000"/>
            <a:ext cx="6710400" cy="312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2"/>
          <p:cNvSpPr/>
          <p:nvPr/>
        </p:nvSpPr>
        <p:spPr>
          <a:xfrm>
            <a:off x="396720" y="311760"/>
            <a:ext cx="103460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Inter Bold"/>
              </a:rPr>
              <a:t>Представление изображения, как матрицы действительных чисел.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50"/>
              </a:lnSpc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1830960" y="900000"/>
            <a:ext cx="9441720" cy="70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2880000" y="73080"/>
            <a:ext cx="8460000" cy="118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p>
            <a:pPr algn="ctr"/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 размеченных данных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1080000" y="1620000"/>
            <a:ext cx="12307320" cy="506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"/>
          <p:cNvSpPr txBox="1"/>
          <p:nvPr/>
        </p:nvSpPr>
        <p:spPr>
          <a:xfrm>
            <a:off x="540000" y="6840000"/>
            <a:ext cx="131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Задача модели — распознать персонажа на изображении. Это могут быть либо Чиполино (луковица), либо сеньор Помидор (томат).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396720" y="311760"/>
            <a:ext cx="103460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Inter Bold"/>
              </a:rPr>
              <a:t>Проблема использования полносвязных нейронных сетей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Inter Bold"/>
              </a:rPr>
              <a:t>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50"/>
              </a:lnSpc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15"/>
          <p:cNvPicPr/>
          <p:nvPr/>
        </p:nvPicPr>
        <p:blipFill>
          <a:blip r:embed="rId1"/>
          <a:stretch/>
        </p:blipFill>
        <p:spPr>
          <a:xfrm>
            <a:off x="3060000" y="720000"/>
            <a:ext cx="6480720" cy="535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0" y="5940000"/>
            <a:ext cx="14630400" cy="21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9960" y="6120000"/>
            <a:ext cx="14590440" cy="186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Решение этой задачи возможно при помощи полносвязных сетей.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Более того в свёрточных сетях есть полносвязные слои, однако всю архитектуру строить только на них неэффективно, потому что это породит миллионы параметров, что грозит долгим обучением и переобучением.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396720" y="311760"/>
            <a:ext cx="103460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Inter Bold"/>
              </a:rPr>
              <a:t>Свёрточная нейронная сеть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Inter Bold"/>
              </a:rPr>
              <a:t>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50"/>
              </a:lnSpc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0"/>
          <p:cNvSpPr/>
          <p:nvPr/>
        </p:nvSpPr>
        <p:spPr>
          <a:xfrm>
            <a:off x="396720" y="804240"/>
            <a:ext cx="103460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Inter Bold"/>
              </a:rPr>
              <a:t>История создания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Inter Bold"/>
              </a:rPr>
              <a:t>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50"/>
              </a:lnSpc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Рисунок 1"/>
          <p:cNvPicPr/>
          <p:nvPr/>
        </p:nvPicPr>
        <p:blipFill>
          <a:blip r:embed="rId1"/>
          <a:stretch/>
        </p:blipFill>
        <p:spPr>
          <a:xfrm>
            <a:off x="468720" y="2171880"/>
            <a:ext cx="5673960" cy="41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14"/>
          <p:cNvSpPr/>
          <p:nvPr/>
        </p:nvSpPr>
        <p:spPr>
          <a:xfrm>
            <a:off x="6501600" y="2527200"/>
            <a:ext cx="7313760" cy="48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ptos"/>
              </a:rPr>
              <a:t>Свёрточная нейронная сеть (СНС, англ. convolutional neural network, CNN) — специальная архитектура искусственных нейронных сетей, предложенная Яном Лекуном в 1988 году и нацеленная на эффективное распознавание образов, входит в состав технологий глубокого обучения. Использует некоторые особенности зрительной коры. В 1959 году появились первые представления о работе зрительной коры головного мозга. Открытие заключалось в определении множества слоёв зрительной области коры. Первичный слой обнаруживал края и прямые линии, а слои более высокого порядка больше фокусируются на извлечении сложных форм и узоров.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49280" y="353160"/>
            <a:ext cx="49975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Inter Bold"/>
              </a:rPr>
              <a:t>Свёртка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Рисунок 5"/>
          <p:cNvPicPr/>
          <p:nvPr/>
        </p:nvPicPr>
        <p:blipFill>
          <a:blip r:embed="rId1"/>
          <a:stretch/>
        </p:blipFill>
        <p:spPr>
          <a:xfrm>
            <a:off x="449280" y="906120"/>
            <a:ext cx="4685040" cy="242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Рисунок 6"/>
          <p:cNvPicPr/>
          <p:nvPr/>
        </p:nvPicPr>
        <p:blipFill>
          <a:blip r:embed="rId2"/>
          <a:stretch/>
        </p:blipFill>
        <p:spPr>
          <a:xfrm>
            <a:off x="459000" y="4114800"/>
            <a:ext cx="4675320" cy="14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Рисунок 2"/>
          <p:cNvPicPr/>
          <p:nvPr/>
        </p:nvPicPr>
        <p:blipFill>
          <a:blip r:embed="rId3"/>
          <a:srcRect l="0" t="0" r="0" b="14143"/>
          <a:stretch/>
        </p:blipFill>
        <p:spPr>
          <a:xfrm>
            <a:off x="6123240" y="2537280"/>
            <a:ext cx="7807680" cy="315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6300000" y="2160000"/>
            <a:ext cx="287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Входное изображение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9900000" y="2160000"/>
            <a:ext cx="2339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Ядро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880000" y="2160000"/>
            <a:ext cx="251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Карта признаков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Рисунок 3"/>
          <p:cNvPicPr/>
          <p:nvPr/>
        </p:nvPicPr>
        <p:blipFill>
          <a:blip r:embed="rId1"/>
          <a:stretch/>
        </p:blipFill>
        <p:spPr>
          <a:xfrm>
            <a:off x="2880000" y="1287000"/>
            <a:ext cx="8099280" cy="591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915480" y="0"/>
            <a:ext cx="11864520" cy="593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700560" y="5297400"/>
            <a:ext cx="12979440" cy="280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540000" y="810000"/>
            <a:ext cx="13499280" cy="674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720000" y="1080000"/>
            <a:ext cx="13319640" cy="665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375480" y="637920"/>
            <a:ext cx="13843800" cy="692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450360" y="405360"/>
            <a:ext cx="14309280" cy="715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338400" y="1980000"/>
            <a:ext cx="7039080" cy="57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/>
          <p:cNvPicPr/>
          <p:nvPr/>
        </p:nvPicPr>
        <p:blipFill>
          <a:blip r:embed="rId2"/>
          <a:stretch/>
        </p:blipFill>
        <p:spPr>
          <a:xfrm>
            <a:off x="7421400" y="2030040"/>
            <a:ext cx="6798600" cy="606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3"/>
          <p:cNvSpPr/>
          <p:nvPr/>
        </p:nvSpPr>
        <p:spPr>
          <a:xfrm>
            <a:off x="0" y="540000"/>
            <a:ext cx="14630040" cy="14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noAutofit/>
          </a:bodyPr>
          <a:p>
            <a:pPr algn="ctr" defTabSz="914400">
              <a:lnSpc>
                <a:spcPts val="275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Inter Bold"/>
              </a:rPr>
              <a:t>Пример реализации свёртки и пулинга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1"/>
          <p:cNvSpPr/>
          <p:nvPr/>
        </p:nvSpPr>
        <p:spPr>
          <a:xfrm>
            <a:off x="720" y="6660360"/>
            <a:ext cx="14630040" cy="14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noAutofit/>
          </a:bodyPr>
          <a:p>
            <a:pPr algn="ctr" defTabSz="914400">
              <a:lnSpc>
                <a:spcPts val="275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Inter Bold"/>
              </a:rPr>
              <a:t>Переход от матричной формы данных к векторной перед подачей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75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Inter Bold"/>
              </a:rPr>
              <a:t>в линейные слои.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540000" y="351000"/>
            <a:ext cx="13624200" cy="630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540000" y="360000"/>
            <a:ext cx="13139640" cy="63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C9211E"/>
                </a:solidFill>
                <a:effectLst/>
                <a:highlight>
                  <a:srgbClr val="FFFFA6"/>
                </a:highlight>
                <a:uFillTx/>
                <a:latin typeface="Arial"/>
              </a:rPr>
              <a:t>Max pooling</a:t>
            </a:r>
            <a:r>
              <a:rPr lang="ru-RU" sz="3600" b="0" u="none" strike="noStrike">
                <a:solidFill>
                  <a:srgbClr val="000000"/>
                </a:solidFill>
                <a:effectLst/>
                <a:highlight>
                  <a:srgbClr val="FFAA95"/>
                </a:highlight>
                <a:uFillTx/>
                <a:latin typeface="Arial"/>
              </a:rPr>
              <a:t>	</a:t>
            </a: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избирает максимальный элемент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C9211E"/>
                </a:solidFill>
                <a:effectLst/>
                <a:highlight>
                  <a:srgbClr val="FFFFA6"/>
                </a:highlight>
                <a:uFillTx/>
                <a:latin typeface="Arial"/>
              </a:rPr>
              <a:t>Min pooling</a:t>
            </a: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избирает минимальный элемент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C9211E"/>
                </a:solidFill>
                <a:effectLst/>
                <a:highlight>
                  <a:srgbClr val="FFFFA6"/>
                </a:highlight>
                <a:uFillTx/>
                <a:latin typeface="Arial"/>
              </a:rPr>
              <a:t>Avg pooling</a:t>
            </a: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избирает среднее арифметическое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C9211E"/>
                </a:solidFill>
                <a:effectLst/>
                <a:highlight>
                  <a:srgbClr val="FFFFA6"/>
                </a:highlight>
                <a:uFillTx/>
                <a:latin typeface="Arial"/>
              </a:rPr>
              <a:t>Sum pooling</a:t>
            </a: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избирает сумму элементов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C9211E"/>
                </a:solidFill>
                <a:effectLst/>
                <a:highlight>
                  <a:srgbClr val="FFFFA6"/>
                </a:highlight>
                <a:uFillTx/>
                <a:latin typeface="Arial"/>
              </a:rPr>
              <a:t>Global pooling</a:t>
            </a: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бывает всех типов выше, но действует на всю матрицу, то есть в результате даёт одно число. Как правило, используется в конце свёрточной части модели.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0" y="0"/>
            <a:ext cx="14659560" cy="60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101160" y="4751280"/>
            <a:ext cx="8807760" cy="29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3"/>
          <a:stretch/>
        </p:blipFill>
        <p:spPr>
          <a:xfrm>
            <a:off x="8908920" y="4751280"/>
            <a:ext cx="5274720" cy="298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 txBox="1"/>
          <p:nvPr/>
        </p:nvSpPr>
        <p:spPr>
          <a:xfrm>
            <a:off x="2880000" y="73080"/>
            <a:ext cx="8460000" cy="118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p>
            <a:pPr algn="ctr"/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Перебор гиперпараметров по сетке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900000" y="2021760"/>
            <a:ext cx="4680000" cy="5763240"/>
          </a:xfrm>
          <a:prstGeom prst="rect">
            <a:avLst/>
          </a:prstGeom>
          <a:noFill/>
          <a:ln w="36000">
            <a:solidFill>
              <a:srgbClr val="111111"/>
            </a:solidFill>
            <a:round/>
          </a:ln>
        </p:spPr>
      </p:pic>
      <p:pic>
        <p:nvPicPr>
          <p:cNvPr id="102" name=""/>
          <p:cNvPicPr/>
          <p:nvPr/>
        </p:nvPicPr>
        <p:blipFill>
          <a:blip r:embed="rId2"/>
          <a:stretch/>
        </p:blipFill>
        <p:spPr>
          <a:xfrm>
            <a:off x="9180000" y="2088000"/>
            <a:ext cx="3780000" cy="5832000"/>
          </a:xfrm>
          <a:prstGeom prst="rect">
            <a:avLst/>
          </a:prstGeom>
          <a:noFill/>
          <a:ln w="36000">
            <a:solidFill>
              <a:srgbClr val="000000"/>
            </a:solidFill>
            <a:round/>
          </a:ln>
        </p:spPr>
      </p:pic>
      <p:pic>
        <p:nvPicPr>
          <p:cNvPr id="103" name=""/>
          <p:cNvPicPr/>
          <p:nvPr/>
        </p:nvPicPr>
        <p:blipFill>
          <a:blip r:embed="rId3"/>
          <a:stretch/>
        </p:blipFill>
        <p:spPr>
          <a:xfrm>
            <a:off x="115560" y="1221480"/>
            <a:ext cx="14464440" cy="37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 txBox="1"/>
          <p:nvPr/>
        </p:nvSpPr>
        <p:spPr>
          <a:xfrm>
            <a:off x="2880000" y="360000"/>
            <a:ext cx="8460000" cy="118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p>
            <a:pPr algn="ctr"/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Динамика качества модели по ходу обучения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417600" y="2520000"/>
            <a:ext cx="13802400" cy="48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180000" y="1620000"/>
            <a:ext cx="14157000" cy="57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 txBox="1"/>
          <p:nvPr/>
        </p:nvSpPr>
        <p:spPr>
          <a:xfrm>
            <a:off x="2700000" y="253080"/>
            <a:ext cx="9180000" cy="118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p>
            <a:pPr algn="ctr"/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Так должен выглядеть результат в идеале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"/>
          <p:cNvPicPr/>
          <p:nvPr/>
        </p:nvPicPr>
        <p:blipFill>
          <a:blip r:embed="rId1"/>
          <a:stretch/>
        </p:blipFill>
        <p:spPr>
          <a:xfrm>
            <a:off x="1124280" y="96480"/>
            <a:ext cx="12195720" cy="56635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</p:pic>
      <p:pic>
        <p:nvPicPr>
          <p:cNvPr id="109" name=""/>
          <p:cNvPicPr/>
          <p:nvPr/>
        </p:nvPicPr>
        <p:blipFill>
          <a:blip r:embed="rId2"/>
          <a:stretch/>
        </p:blipFill>
        <p:spPr>
          <a:xfrm>
            <a:off x="1800000" y="5880600"/>
            <a:ext cx="10800000" cy="2185200"/>
          </a:xfrm>
          <a:prstGeom prst="rect">
            <a:avLst/>
          </a:prstGeom>
          <a:noFill/>
          <a:ln w="36000">
            <a:solidFill>
              <a:srgbClr val="FFB66C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/>
          <p:cNvPicPr/>
          <p:nvPr/>
        </p:nvPicPr>
        <p:blipFill>
          <a:blip r:embed="rId1"/>
          <a:stretch/>
        </p:blipFill>
        <p:spPr>
          <a:xfrm>
            <a:off x="1080000" y="92160"/>
            <a:ext cx="12517200" cy="566784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</p:pic>
      <p:pic>
        <p:nvPicPr>
          <p:cNvPr id="111" name=""/>
          <p:cNvPicPr/>
          <p:nvPr/>
        </p:nvPicPr>
        <p:blipFill>
          <a:blip r:embed="rId2"/>
          <a:stretch/>
        </p:blipFill>
        <p:spPr>
          <a:xfrm>
            <a:off x="2083320" y="5940000"/>
            <a:ext cx="10516680" cy="2160000"/>
          </a:xfrm>
          <a:prstGeom prst="rect">
            <a:avLst/>
          </a:prstGeom>
          <a:noFill/>
          <a:ln w="36000">
            <a:solidFill>
              <a:srgbClr val="FF8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49280" y="353160"/>
            <a:ext cx="49975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Inter Bold"/>
              </a:rPr>
              <a:t>Тест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449280" y="1260000"/>
            <a:ext cx="6864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На работу какой биологической системы изначально ориентированы CNN?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а) Слуховой коры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б) Мозжечка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в) Зрительной коры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г) Лимбической системы</a:t>
            </a:r>
            <a:r>
              <a:rPr lang="ru-RU" sz="1800" b="1" u="none" strike="noStrike">
                <a:solidFill>
                  <a:srgbClr val="F9FAFB"/>
                </a:solidFill>
                <a:effectLst/>
                <a:uFillTx/>
                <a:latin typeface="quote-cjk-patch"/>
              </a:rPr>
              <a:t>4. На работу какой биологической системыры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450720" y="3060000"/>
            <a:ext cx="71323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Что такое "свёртка" в контексте CNN?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а) Увеличение размера изображения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б) Преобразование изображения в вектор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в) Проход фильтра (ядра) по изображению для выделения признаков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г) Удаление шумов с помощью медианного фильтра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475200" y="4646880"/>
            <a:ext cx="68486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Что характеризует гиперпараметр "Padding"?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а) Уменьшение размерности изображения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б) Колличество пикселей по краям изображения для сохранения размера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в) Шаг свёртки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7492320" y="1260000"/>
            <a:ext cx="73137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Что характеризует гиперпараметр "Stride"?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а) Шаг, с которым фильтр перемещается по изображению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б) Количество фильтров в слое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в) Размер фильтра свёртки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г) Скорость обучения нейронной сети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4"/>
          <p:cNvSpPr/>
          <p:nvPr/>
        </p:nvSpPr>
        <p:spPr>
          <a:xfrm>
            <a:off x="7492320" y="2737440"/>
            <a:ext cx="63716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Какой из следующих методов НЕ является видом операции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Pooling?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а)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Max Pooling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б)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 Pooling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в)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Average Pooling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г)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Convolutional Pooling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Application>LibreOffice/26.2.6.3$Windows_X86_64 LibreOffice_project/8221e31b3ac356a1623c672912a3d2b492f7e3d1</Application>
  <AppVersion>15.0000</AppVersion>
  <Words>496</Words>
  <Paragraphs>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2025-11-29T00:34:25Z</dcterms:created>
  <dc:creator/>
  <dc:description/>
  <dc:language>ru-RU</dc:language>
  <cp:lastModifiedBy/>
  <dcterms:modified xsi:type="dcterms:W3CDTF">2026-10-09T13:17:18Z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